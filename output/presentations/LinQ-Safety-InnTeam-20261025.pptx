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ab3323c2334fe2" /><Relationship Type="http://schemas.openxmlformats.org/officeDocument/2006/relationships/extended-properties" Target="/docProps/app.xml" Id="Radac759e60c94a48" /><Relationship Type="http://schemas.openxmlformats.org/officeDocument/2006/relationships/officeDocument" Target="/ppt/presentation.xml" Id="R61faa15df26f47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3ee24e71a24a3e"/>
  </p:sldMasterIdLst>
  <p:notesMasterIdLst>
    <p:notesMasterId xmlns:r="http://schemas.openxmlformats.org/officeDocument/2006/relationships" r:id="Rd4a0bf80285044b1"/>
  </p:notesMasterIdLst>
  <p:sldIdLst>
    <p:sldId xmlns:r="http://schemas.openxmlformats.org/officeDocument/2006/relationships" id="256" r:id="R1820288459c64e61"/>
    <p:sldId xmlns:r="http://schemas.openxmlformats.org/officeDocument/2006/relationships" id="257" r:id="Rfe02ffa2dc784b62"/>
    <p:sldId xmlns:r="http://schemas.openxmlformats.org/officeDocument/2006/relationships" id="258" r:id="Red8069a13e1346bd"/>
    <p:sldId xmlns:r="http://schemas.openxmlformats.org/officeDocument/2006/relationships" id="259" r:id="R0612ae8a80a042ba"/>
    <p:sldId xmlns:r="http://schemas.openxmlformats.org/officeDocument/2006/relationships" id="260" r:id="Rcf388a1360b24b9a"/>
    <p:sldId xmlns:r="http://schemas.openxmlformats.org/officeDocument/2006/relationships" id="261" r:id="Re2bbea9ca9404c39"/>
    <p:sldId xmlns:r="http://schemas.openxmlformats.org/officeDocument/2006/relationships" id="262" r:id="Rd75b10b24763414a"/>
    <p:sldId xmlns:r="http://schemas.openxmlformats.org/officeDocument/2006/relationships" id="263" r:id="Rcab5f109d9784066"/>
    <p:sldId xmlns:r="http://schemas.openxmlformats.org/officeDocument/2006/relationships" id="264" r:id="R3a68634b4542453e"/>
    <p:sldId xmlns:r="http://schemas.openxmlformats.org/officeDocument/2006/relationships" id="265" r:id="Rae734e3c0eb143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eb0599ccce4478" /><Relationship Type="http://schemas.openxmlformats.org/officeDocument/2006/relationships/slideMaster" Target="/ppt/slideMasters/slideMaster1.xml" Id="Re53ee24e71a24a3e" /><Relationship Type="http://schemas.openxmlformats.org/officeDocument/2006/relationships/notesMaster" Target="/ppt/notesMasters/notesMaster1.xml" Id="Rd4a0bf80285044b1" /><Relationship Type="http://schemas.openxmlformats.org/officeDocument/2006/relationships/presProps" Target="/ppt/presProps.xml" Id="R098ec7bef2eb456c" /><Relationship Type="http://schemas.openxmlformats.org/officeDocument/2006/relationships/tableStyles" Target="/ppt/tableStyles.xml" Id="R222ad116e3a04d21" /><Relationship Type="http://schemas.openxmlformats.org/officeDocument/2006/relationships/slide" Target="/ppt/slides/slide1.xml" Id="R1820288459c64e61" /><Relationship Type="http://schemas.openxmlformats.org/officeDocument/2006/relationships/slide" Target="/ppt/slides/slide2.xml" Id="Rfe02ffa2dc784b62" /><Relationship Type="http://schemas.openxmlformats.org/officeDocument/2006/relationships/slide" Target="/ppt/slides/slide3.xml" Id="Red8069a13e1346bd" /><Relationship Type="http://schemas.openxmlformats.org/officeDocument/2006/relationships/slide" Target="/ppt/slides/slide4.xml" Id="R0612ae8a80a042ba" /><Relationship Type="http://schemas.openxmlformats.org/officeDocument/2006/relationships/slide" Target="/ppt/slides/slide5.xml" Id="Rcf388a1360b24b9a" /><Relationship Type="http://schemas.openxmlformats.org/officeDocument/2006/relationships/slide" Target="/ppt/slides/slide6.xml" Id="Re2bbea9ca9404c39" /><Relationship Type="http://schemas.openxmlformats.org/officeDocument/2006/relationships/slide" Target="/ppt/slides/slide7.xml" Id="Rd75b10b24763414a" /><Relationship Type="http://schemas.openxmlformats.org/officeDocument/2006/relationships/slide" Target="/ppt/slides/slide8.xml" Id="Rcab5f109d9784066" /><Relationship Type="http://schemas.openxmlformats.org/officeDocument/2006/relationships/slide" Target="/ppt/slides/slide9.xml" Id="R3a68634b4542453e" /><Relationship Type="http://schemas.openxmlformats.org/officeDocument/2006/relationships/slide" Target="/ppt/slides/slide10.xml" Id="Rae734e3c0eb143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1bc9f18b994f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c9d0501af4042" /><Relationship Type="http://schemas.openxmlformats.org/officeDocument/2006/relationships/notesMaster" Target="/ppt/notesMasters/notesMaster1.xml" Id="R7606a8dae6de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0397fadcf4b6d" /><Relationship Type="http://schemas.openxmlformats.org/officeDocument/2006/relationships/notesMaster" Target="/ppt/notesMasters/notesMaster1.xml" Id="R3d5f5b649e5b46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45bfade7554e30" /><Relationship Type="http://schemas.openxmlformats.org/officeDocument/2006/relationships/notesMaster" Target="/ppt/notesMasters/notesMaster1.xml" Id="Rba83ed9b3b8348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7791bcafa4970" /><Relationship Type="http://schemas.openxmlformats.org/officeDocument/2006/relationships/notesMaster" Target="/ppt/notesMasters/notesMaster1.xml" Id="R4b42da8f5da646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34bb1f2b3c4086" /><Relationship Type="http://schemas.openxmlformats.org/officeDocument/2006/relationships/notesMaster" Target="/ppt/notesMasters/notesMaster1.xml" Id="R06e6bb1b2e654e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f3838ffe9541c7" /><Relationship Type="http://schemas.openxmlformats.org/officeDocument/2006/relationships/notesMaster" Target="/ppt/notesMasters/notesMaster1.xml" Id="R4c1faaa4e1a948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6b469a1d24ef3" /><Relationship Type="http://schemas.openxmlformats.org/officeDocument/2006/relationships/notesMaster" Target="/ppt/notesMasters/notesMaster1.xml" Id="R8ab91806e3354e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0adfc0cc5e4f97" /><Relationship Type="http://schemas.openxmlformats.org/officeDocument/2006/relationships/notesMaster" Target="/ppt/notesMasters/notesMaster1.xml" Id="Rf54e084d79134c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afaf4d3a0a404e" /><Relationship Type="http://schemas.openxmlformats.org/officeDocument/2006/relationships/notesMaster" Target="/ppt/notesMasters/notesMaster1.xml" Id="R6acfbe00c0db47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e38665589e41c2" /><Relationship Type="http://schemas.openxmlformats.org/officeDocument/2006/relationships/notesMaster" Target="/ppt/notesMasters/notesMaster1.xml" Id="R5b9fbd3d76ef4d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0:00–0:10</a:t>
            </a:r>
          </a:p>
          <a:p xmlns:a="http://schemas.openxmlformats.org/drawingml/2006/main">
            <a:r>
              <a:t>InnTeam представляет LinQ Safety — систему автоматизированного контроля промышленной безопасности. Решение объединяет распознавание нарушений, видеодоказательства и аналитику событий.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0:10–0:33</a:t>
            </a:r>
          </a:p>
          <a:p xmlns:a="http://schemas.openxmlformats.org/drawingml/2006/main">
            <a:r>
              <a:t>Задача кейса — автоматизация обнаружения нарушений техники безопасности по видеопотокам предприятий и оперативное оповещение ответственных. Актуальность подтверждает статистика Росстата: в 2024 году на производстве пострадали 21,4 тысячи человек, из них 1,04 тысячи — со смертельным исходом. Система предназначена для своевременного выявления опасных ситуаций.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https://www.rosstat.gov.ru/storage/mediabank/Soc_pol_2025.pdf, табл. 4.32. Речь о пострадавших в охваченных статистическим наблюдением организациях, не о числе застрахованных происшествий. Значения округлены до тысяч. Дополнительная проверка: https://www.rosstat.gov.ru/storage/mediabank/Zdravooxran_2025.pdf, табл.6.20: 21 428 и 1 036. Статистика не означает, что видеоаналитика предотвращает все эти травмы. Кейс: docs/reference/КЕЙС_LinQ.pdf, стр.13.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0:33–0:58</a:t>
            </a:r>
          </a:p>
          <a:p xmlns:a="http://schemas.openxmlformats.org/drawingml/2006/main">
            <a:r>
              <a:t>На вход поступает видеопоток или запись. YOLO12m обнаруживает людей, модель позы определяет ключевые точки. Специализированные модели анализируют СИЗ и предметы; временная модель используется для падений. Сопровождение по ID связывает наблюдения. Серия согласованных оценок подтверждает состояние и запускает оповещение. Правила учитывают зоны конкретной камеры.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app/inference.py, app/scenario_models.py, app/fall_temporal.py, app/temporal_state.py. ResNet18/GRU не является отдельной TPU-компиляцией. Подтверждение во времени уменьшает одиночные срабатывания, не гарантирует их полного отсутствия.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0:58–1:22</a:t>
            </a:r>
          </a:p>
          <a:p xmlns:a="http://schemas.openxmlformats.org/drawingml/2006/main">
            <a:r>
              <a:t>Первое инновационное решение — автоматическое формирование видеодоказательств. Регистрация нарушения запускает запись контекста до и после тревоги. Архив сохраняет камеру, тип события и таймкоды, позволяет просмотреть или скачать MP4. Одновременные нарушения нескольких людей используют один клип со счётчиком, сохраняя индивидуальную историю событий.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Изображение предоставлено пользователем: codex-clipboard-05982a48-629b-447c-93ef-0aaa5a705369.png. Полный интервал нарушения не приравнивается к длительности короткого клипа. app/clip_groups.py, app/live.py, app/video.py, app/static/clip-archive.js. Инновация означает особенность реализации проекта, не мировое первенство.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1:22–1:50</a:t>
            </a:r>
          </a:p>
          <a:p xmlns:a="http://schemas.openxmlformats.org/drawingml/2006/main">
            <a:r>
              <a:t>Второе инновационное решение — интерактивная аналитика. Фильтры формируют срез по периоду, камере, типу и статусу события. Распределение нарушений и сравнение камер помогают выделить проблемные участки. Динамика показывает повторяемость во времени. Из графика можно перейти к конкретным событиям и доказательствам. Excel и CSV содержат сводку и подробные записи для отчётности.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app/analytics.py, app/analytics_export.py, app/static/analytics-ui.js. На графиках учебный срез QA камер A/B: 27 no_helmet на A, 4 no_helmet и 4 fire на B. Выбранные 35 событий не показывают производственный риск или точность. Экспорт учитывает фильтры.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1:50–2:00</a:t>
            </a:r>
          </a:p>
          <a:p xmlns:a="http://schemas.openxmlformats.org/drawingml/2006/main">
            <a:r>
              <a:t>Функциональная часть прототипа включает основные и дополнительные возможности кейса: видеовход, распознавание, оповещения, подавление повторов и журнал. Также реализованы зоны, аналитика, решения по событиям и несколько потоков.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docs/coverage.json, docs/reference/КЕЙС_LinQ.pdf, стр.13. Галочки обозначают реализованные функции, не аппаратное соответствие всему кейсу и не точность каждого сценария. docs/yolo12m-compatibility.json оставляет hardware_verified=false.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2:00–2:17</a:t>
            </a:r>
          </a:p>
          <a:p xmlns:a="http://schemas.openxmlformats.org/drawingml/2006/main">
            <a:r>
              <a:t>Рабочее место оператора объединяет мониторинг назначенных камер и обработку оповещений. Выбор камеры меняет просмотр, остальные потоки продолжают работать. В уведомлении доступны тип события, камера и время. Переход к клипу позволяет изучить обстоятельства. Анализ загруженных записей использует тот же журнал и архив.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Скриншот data/samples/pattern-audit-20261025/live-final.png. Это реальный UI с учебным replay двух публичных заводских записей; не собственные камеры заказчика. Фактически проверялись два потока на локальном стенде.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2:17–2:32</a:t>
            </a:r>
          </a:p>
          <a:p xmlns:a="http://schemas.openxmlformats.org/drawingml/2006/main">
            <a:r>
              <a:t>Глобальный администратор управляет предприятиями и назначает локальных администраторов. Внутри предприятия администратор управляет сотрудниками. Операторы наблюдают камеры, мастера работают со своими участками, руководство получает сводную аналитику. Доступ к данным разграничен по предприятию и камерам.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app/auth.py:ROLES и docs/access-control.ru.md. Работник не имеет доступа к чужим кадрам, клипам и статистике. Менеджмент видит агрегаты, а не доказательства. Специалист ОТ и служба ОТ/юрист имеют различные права.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2:32–2:47</a:t>
            </a:r>
          </a:p>
          <a:p xmlns:a="http://schemas.openxmlformats.org/drawingml/2006/main">
            <a:r>
              <a:t>В разработке использованы расширение данных, дообучение и практические проверки видеопримеров. Приложение, веса и инструкция собраны в серверный комплект. Базовая YOLO12m скомпилирована для LinQ. Следующий этап — аппаратная проверка полного конвейера и измерение задержки.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docs/pattern-audit-summary-20261025.json, docs/server-bundle-verification-20261025.json, docs/yolo12m-compatibility.json. Не заявляется выполнение всего ансамбля на TPU или оценка точности выше 0.95.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2:47–3:00</a:t>
            </a:r>
          </a:p>
          <a:p xmlns:a="http://schemas.openxmlformats.org/drawingml/2006/main">
            <a:r>
              <a:t>Результат проекта — единый рабочий процесс: видеопоток, событие, видеодоказательство и аналитика. Функциональный прототип готов к демонстрации и последующей апробации на предприятии. Благодарим за внимание.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детали для подготовки, не для чтения вслух:</a:t>
            </a:r>
          </a:p>
          <a:p xmlns:a="http://schemas.openxmlformats.org/drawingml/2006/main">
            <a:r>
              <a:t>Репозиторий: https://github.com/yathebest/mosprom2026. «Апробация» не означает уже завершённое промышленное внедрение.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b1ff60607a4d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f54889ab643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c5a73cfa646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58283bf8f044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5420e148f548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8be31d43249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5BEBA5-AA85-4526-A75B-9A93469FA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F720F4-279A-47D5-B4DF-964DF4FC0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62DD6E-2AC6-4726-98D4-66E0E1FE93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60D0A6-190E-4347-B3D0-9A967B2F38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58443A-AA56-45AA-9AB8-5385687895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1CD01E-1C0F-4BF9-9EC3-EFE9834822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EF46C1-8B09-48C6-BCF0-3555771D43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2DD05F-A212-44A8-8B88-8E96D6E455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D184AC-3151-4246-A7BA-762B463DBF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CC64592-25CA-4E3A-BCE7-80B44D49A8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a7177e7a84bc2" /><Relationship Type="http://schemas.openxmlformats.org/officeDocument/2006/relationships/slideLayout" Target="/ppt/slideLayouts/slideLayout1.xml" Id="R5c763cdb816c4bdc" /><Relationship Type="http://schemas.openxmlformats.org/officeDocument/2006/relationships/slideLayout" Target="/ppt/slideLayouts/slideLayout2.xml" Id="R42f04dff08204783" /><Relationship Type="http://schemas.openxmlformats.org/officeDocument/2006/relationships/slideLayout" Target="/ppt/slideLayouts/slideLayout3.xml" Id="Rb3ed93912f7742dd" /><Relationship Type="http://schemas.openxmlformats.org/officeDocument/2006/relationships/slideLayout" Target="/ppt/slideLayouts/slideLayout4.xml" Id="R1883919b04264689" /><Relationship Type="http://schemas.openxmlformats.org/officeDocument/2006/relationships/slideLayout" Target="/ppt/slideLayouts/slideLayout5.xml" Id="R8e317a90a3ed4168" /><Relationship Type="http://schemas.openxmlformats.org/officeDocument/2006/relationships/slideLayout" Target="/ppt/slideLayouts/slideLayout6.xml" Id="R7b98c8eb387543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763cdb816c4bdc"/>
    <p:sldLayoutId xmlns:r="http://schemas.openxmlformats.org/officeDocument/2006/relationships" id="2147483650" r:id="R42f04dff08204783"/>
    <p:sldLayoutId xmlns:r="http://schemas.openxmlformats.org/officeDocument/2006/relationships" id="2147483651" r:id="Rb3ed93912f7742dd"/>
    <p:sldLayoutId xmlns:r="http://schemas.openxmlformats.org/officeDocument/2006/relationships" id="2147483652" r:id="R1883919b04264689"/>
    <p:sldLayoutId xmlns:r="http://schemas.openxmlformats.org/officeDocument/2006/relationships" id="2147483653" r:id="R8e317a90a3ed4168"/>
    <p:sldLayoutId xmlns:r="http://schemas.openxmlformats.org/officeDocument/2006/relationships" id="2147483654" r:id="R7b98c8eb387543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16c97895e4d22" /><Relationship Type="http://schemas.openxmlformats.org/officeDocument/2006/relationships/notesSlide" Target="/ppt/notesSlides/notesSlide1.xml" Id="Ref1ad8c99b5944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6182f20b594c85" /><Relationship Type="http://schemas.openxmlformats.org/officeDocument/2006/relationships/notesSlide" Target="/ppt/notesSlides/notesSlide2.xml" Id="R662e18af9d5f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91a6427d004821" /><Relationship Type="http://schemas.openxmlformats.org/officeDocument/2006/relationships/notesSlide" Target="/ppt/notesSlides/notesSlide3.xml" Id="R34a3650458f04f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533d88aeaf41c4" /><Relationship Type="http://schemas.openxmlformats.org/officeDocument/2006/relationships/image" Target="/ppt/media/image.png" Id="R32e0a4b782d746e7" /><Relationship Type="http://schemas.openxmlformats.org/officeDocument/2006/relationships/notesSlide" Target="/ppt/notesSlides/notesSlide4.xml" Id="R9e26c5ad381442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4a74313a2479a" /><Relationship Type="http://schemas.openxmlformats.org/officeDocument/2006/relationships/chart" Target="/ppt/slides/charts/chart1.xml" Id="Re5b1d34312144e49" /><Relationship Type="http://schemas.openxmlformats.org/officeDocument/2006/relationships/chart" Target="/ppt/slides/charts/chart2.xml" Id="R8adf5713d8934a32" /><Relationship Type="http://schemas.openxmlformats.org/officeDocument/2006/relationships/notesSlide" Target="/ppt/notesSlides/notesSlide5.xml" Id="R4899b524b7b94f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b305fd7094d04" /><Relationship Type="http://schemas.openxmlformats.org/officeDocument/2006/relationships/notesSlide" Target="/ppt/notesSlides/notesSlide6.xml" Id="R0e99d35ca15440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3381708bb9427f" /><Relationship Type="http://schemas.openxmlformats.org/officeDocument/2006/relationships/image" Target="/ppt/media/image.jpeg" Id="R6e44f5eb7391418e" /><Relationship Type="http://schemas.openxmlformats.org/officeDocument/2006/relationships/notesSlide" Target="/ppt/notesSlides/notesSlide7.xml" Id="Rd713bc8a22554e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d2c3fc99614f10" /><Relationship Type="http://schemas.openxmlformats.org/officeDocument/2006/relationships/notesSlide" Target="/ppt/notesSlides/notesSlide8.xml" Id="R0e943182e0104e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11057b34334c1c" /><Relationship Type="http://schemas.openxmlformats.org/officeDocument/2006/relationships/notesSlide" Target="/ppt/notesSlides/notesSlide9.xml" Id="R38a0be5e13fc49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2f683e91d44c9" /><Relationship Type="http://schemas.openxmlformats.org/officeDocument/2006/relationships/notesSlide" Target="/ppt/notesSlides/notesSlide10.xml" Id="R5cc7e29f638143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События</c:v>
          </c:tx>
          <c:spPr>
            <a:solidFill xmlns:a="http://schemas.openxmlformats.org/drawingml/2006/main">
              <a:srgbClr val="28766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Без каски</c:v>
                </c:pt>
                <c:pt idx="1">
                  <c:v>Открытый огонь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</c:v>
                </c:pt>
                <c:pt idx="1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03F3B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D5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5F6F0"/>
        </a:solidFill>
      </c:spPr>
    </c:plotArea>
    <c:plotVisOnly val="1"/>
  </c:chart>
  <c:spPr>
    <a:solidFill xmlns:a="http://schemas.openxmlformats.org/drawingml/2006/main">
      <a:srgbClr val="F5F6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Без каски</c:v>
          </c:tx>
          <c:spPr>
            <a:solidFill xmlns:a="http://schemas.openxmlformats.org/drawingml/2006/main">
              <a:srgbClr val="28766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Камера A</c:v>
                </c:pt>
                <c:pt idx="1">
                  <c:v>Камера B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27</c:v>
                </c:pt>
                <c:pt idx="1">
                  <c:v>4</c:v>
                </c:pt>
              </c:numCache>
            </c:numRef>
          </c:val>
        </c:ser>
        <c:ser>
          <c:idx val="1"/>
          <c:order val="1"/>
          <c:tx>
            <c:v>Огонь</c:v>
          </c:tx>
          <c:spPr>
            <a:solidFill xmlns:a="http://schemas.openxmlformats.org/drawingml/2006/main">
              <a:srgbClr val="B67448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Камера A</c:v>
                </c:pt>
                <c:pt idx="1">
                  <c:v>Камера B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0</c:v>
                </c:pt>
                <c:pt idx="1">
                  <c:v>4</c:v>
                </c:pt>
              </c:numCache>
            </c:numRef>
          </c:val>
        </c:ser>
        <c:dLbls>
          <c:numFmt formatCode="0;-0;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FFFFFF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D5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5F6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>
              <a:solidFill>
                <a:srgbClr val="103F3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5F6F0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4BED7-B0A1-46DB-B51A-AFAE26B7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LinQ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92862-BC75-4568-905E-ADE25251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0906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Автоматизированный контроль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промышленной 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E7462-6E3F-4056-BE68-27F807B4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10810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DBD2"/>
                </a:solidFill>
                <a:latin typeface="Arial"/>
                <a:ea typeface="Arial"/>
                <a:cs typeface="Arial"/>
              </a:rPr>
              <a:t>Видеоаналитика, видеодоказательства и статистика событий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D6B87-66A2-4AC8-AE56-F2DC3F65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436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5EC9F"/>
                </a:solidFill>
                <a:latin typeface="Arial"/>
                <a:ea typeface="Arial"/>
                <a:cs typeface="Arial"/>
              </a:rPr>
              <a:t>InnTeam</a:t>
            </a:r>
          </a:p>
        </p:txBody>
      </p:sp>
    </p:spTree>
    <p:extLst>
      <p:ext uri="{BB962C8B-B14F-4D97-AF65-F5344CB8AC3E}">
        <p14:creationId xmlns:p14="http://schemas.microsoft.com/office/powerpoint/2010/main" val="5518714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51D5E-B7DD-49E7-937D-E7FF67BDE3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57975" y="2919413"/>
            <a:ext cx="1847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F3165-BCDC-45A3-AD0C-8C8BBF19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Задача и 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8DF1B-9892-4051-A902-8BCDA895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9291F-AC32-4CAD-A06E-0078E31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76425"/>
            <a:ext cx="6343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Автоматизация обнаружения</a:t>
            </a:r>
          </a:p>
          <a:p xmlns:a="http://schemas.openxmlformats.org/drawingml/2006/main">
            <a: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нарушений техники</a:t>
            </a:r>
          </a:p>
          <a:p xmlns:a="http://schemas.openxmlformats.org/drawingml/2006/main">
            <a:pPr algn="l">
              <a:defRPr sz="330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безопасности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5FD2D-5F55-40E4-9235-3A2D08BD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48125"/>
            <a:ext cx="6334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Анализ видеопотоков предприятий</a:t>
            </a:r>
          </a:p>
          <a:p xmlns:a="http://schemas.openxmlformats.org/drawingml/2006/main">
            <a: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и оперативное оповещение ответственных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757DF-4FB6-4178-B7F3-E47DCD7F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14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97209-CABA-486F-A018-17DDD023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14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A7113-ABA4-4A83-8384-F39B4B24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143125"/>
            <a:ext cx="1685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Почему</a:t>
            </a:r>
          </a:p>
          <a:p xmlns:a="http://schemas.openxmlformats.org/drawingml/2006/main">
            <a:pPr algn="ctr">
              <a:defRPr sz="18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это важно?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A32918-4200-4ABE-B5E4-9C4678B4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66900"/>
            <a:ext cx="2743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Россия, 2024 год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358A83-236A-4F86-9A1B-2797F7D0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00300"/>
            <a:ext cx="27813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42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21,4 тыс.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CAD07-9CC2-4E94-841E-AFFCE6DD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305175"/>
            <a:ext cx="2705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пострадавших</a:t>
            </a:r>
          </a:p>
          <a:p xmlns:a="http://schemas.openxmlformats.org/drawingml/2006/main">
            <a:pPr algn="l">
              <a:defRPr sz="19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на производстве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6888D-1CA3-4048-9C29-2AF9BDB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00550"/>
            <a:ext cx="27813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1,04 тыс.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57AD2-6529-4EED-AC68-2EBACA7F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210175"/>
            <a:ext cx="2705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из них со смертельным исходом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E13D3-9FE4-495C-B3D1-6E7F0071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7496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Цель: своевременное выявление опасных ситуаций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18C44-3AD5-4372-AA5D-647C2DD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15100"/>
            <a:ext cx="10382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Росстат. «Социальное положение и уровень жизни населения России. 2025», табл. 4.32</a:t>
            </a:r>
          </a:p>
        </p:txBody>
      </p:sp>
    </p:spTree>
    <p:extLst>
      <p:ext uri="{BB962C8B-B14F-4D97-AF65-F5344CB8AC3E}">
        <p14:creationId xmlns:p14="http://schemas.microsoft.com/office/powerpoint/2010/main" val="1207179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6AF6FD-87DB-4B5D-84DC-0C73CDADFA2E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258300" y="3933825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3FDC68-E8A1-43E6-8656-E0E068C1EA0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534150" y="39338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C9096-7D27-4127-A1DA-4E36C24A8A5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476500" y="39338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BE507-1669-40A8-8FB4-E4E23797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Принцип работы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7BEA9-14CF-4E27-A97D-D7B0EB84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7662"/>
                </a:solidFill>
                <a:latin typeface="Arial"/>
                <a:ea typeface="Arial"/>
                <a:cs typeface="Arial"/>
              </a:rPr>
              <a:t>Нейросетевой анализ с подтверждением событий во времени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E2734-A7D2-40A1-B1EE-69D11CE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5BF9E-DF03-4494-A78F-F2777862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866900" cy="1200150"/>
          </a:xfrm>
          <a:prstGeom xmlns:a="http://schemas.openxmlformats.org/drawingml/2006/main" prst="roundRect">
            <a:avLst>
              <a:gd name="adj" fmla="val 7937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Видеопоток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или запись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BC069B-B45D-43CA-96EB-99570A59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3562350" cy="3867150"/>
          </a:xfrm>
          <a:prstGeom xmlns:a="http://schemas.openxmlformats.org/drawingml/2006/main" prst="roundRect">
            <a:avLst>
              <a:gd name="adj" fmla="val 2674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t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Нейросетевые модели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CEC4F-DB50-474A-B1B3-BC31282E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670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Люди и поза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C3352-F36C-484B-9542-0937E111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314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YOLO12m, YOLOv8-pose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DBC1F-AA7A-41E2-B211-06F826A0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8766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СИЗ и предметы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B2EA5-B83F-4163-B885-10DEB886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67200"/>
            <a:ext cx="314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Детекторы и классификаторы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6BD2E-33AF-4B6E-8D2F-C5FF41C4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91100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Падения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90836-3A7D-408A-9768-955516CE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8162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ResNet18 и GRU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EACAD-7719-45B1-9499-6D05873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24150"/>
            <a:ext cx="2190750" cy="2419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Сопровождение</a:t>
            </a:r>
          </a:p>
          <a:p xmlns:a="http://schemas.openxmlformats.org/drawingml/2006/main">
            <a: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человека по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  <a:p xmlns:a="http://schemas.openxmlformats.org/drawingml/2006/main">
            <a:pPr>
              <a:defRPr sz="15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состояния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663FF-8F64-4650-8E68-3D7E9BB1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09925"/>
            <a:ext cx="1809750" cy="14478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Оповещение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Видеоклип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BFA77-FD61-4F2C-AD07-D55D821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Правила и зоны задаются для каждой камеры</a:t>
            </a:r>
          </a:p>
        </p:txBody>
      </p:sp>
    </p:spTree>
    <p:extLst>
      <p:ext uri="{BB962C8B-B14F-4D97-AF65-F5344CB8AC3E}">
        <p14:creationId xmlns:p14="http://schemas.microsoft.com/office/powerpoint/2010/main" val="11385226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53018-1023-4A48-A6EB-3B8C033DC7B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96175" y="2471738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ADF75-5C7D-4A6F-B202-EFE7696E6DA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09950" y="2471738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2EEE3B-103B-4A0F-9B07-CC3FADBE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Инновационные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19F149-610B-4E8E-BA46-214C2930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7662"/>
                </a:solidFill>
                <a:latin typeface="Arial"/>
                <a:ea typeface="Arial"/>
                <a:cs typeface="Arial"/>
              </a:rPr>
              <a:t>Автоматизированное формирование видеодоказательств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D58AD-D100-4442-9F4A-D0783FC9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B9FEF-0A74-4E05-9DE2-0714A27A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8003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Регистрация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нарушения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BEAA4-7495-4A42-8181-7ED3BB1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28825"/>
            <a:ext cx="28003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Автозапись</a:t>
            </a:r>
          </a:p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видеофрагмента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39171-B1CC-417F-BA7D-D2ACE964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28825"/>
            <a:ext cx="2800350" cy="885825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Единый архив</a:t>
            </a:r>
          </a:p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происшествий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CF3FF1-B9F8-4C36-84F8-6851B45A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285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Камера, тип события, человек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37780-54A1-43FC-9F83-CD3048C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05150"/>
            <a:ext cx="285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Контекст до и после тревоги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F79CA4-CBEA-4161-9BD7-66539ADD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05150"/>
            <a:ext cx="2790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Таймкоды, просмотр, MP4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103C6-38AA-4DFC-B4A6-99FF786A2E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0a4b782d746e7"/>
          <a:stretch xmlns:a="http://schemas.openxmlformats.org/drawingml/2006/main"/>
        </p:blipFill>
        <p:spPr>
          <a:xfrm xmlns:a="http://schemas.openxmlformats.org/drawingml/2006/main">
            <a:off x="609600" y="4033282"/>
            <a:ext cx="10972800" cy="152511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D2052-5BCC-4E46-AE6A-84031D32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34075"/>
            <a:ext cx="10925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Группировка одновременных нарушений в одном клипе</a:t>
            </a:r>
          </a:p>
        </p:txBody>
      </p:sp>
    </p:spTree>
    <p:extLst>
      <p:ext uri="{BB962C8B-B14F-4D97-AF65-F5344CB8AC3E}">
        <p14:creationId xmlns:p14="http://schemas.microsoft.com/office/powerpoint/2010/main" val="1823609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3841C-7829-49CD-AB50-1414976D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Инновационные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E83C3-E70B-4E15-91A9-215288D8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7662"/>
                </a:solidFill>
                <a:latin typeface="Arial"/>
                <a:ea typeface="Arial"/>
                <a:cs typeface="Arial"/>
              </a:rPr>
              <a:t>Интерактивная аналитика промышленной 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7DBF5-D1A5-4F12-8DD4-D6B45FD2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5056-A85E-4035-B56C-FF28161F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880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Настраиваемый срез: период, камера, тип и статус события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F9148-46EB-49BD-8F8D-499B3DAC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50768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Распределение нарушений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44B50F-25B8-4208-94A6-4CAD7FAA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Сравнение камер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26244B75-EC62-4334-A159-C3743647EB47}"/>
              </a:ext>
            </a:extLst>
          </p:cNvPr>
          <p:cNvGraphicFramePr/>
          <p:nvPr/>
        </p:nvGraphicFramePr>
        <p:xfrm>
          <a:off xmlns:a="http://schemas.openxmlformats.org/drawingml/2006/main" x="619125" y="3048000"/>
          <a:ext xmlns:a="http://schemas.openxmlformats.org/drawingml/2006/main" cx="5076825" cy="2066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b1d34312144e49"/>
          </a:graphicData>
        </a:graphic>
      </p:graphicFrame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EEFA11BC-6377-4E61-B4EB-9BB0ED4E5199}"/>
              </a:ext>
            </a:extLst>
          </p:cNvPr>
          <p:cNvGraphicFramePr/>
          <p:nvPr/>
        </p:nvGraphicFramePr>
        <p:xfrm>
          <a:off xmlns:a="http://schemas.openxmlformats.org/drawingml/2006/main" x="6724650" y="3048000"/>
          <a:ext xmlns:a="http://schemas.openxmlformats.org/drawingml/2006/main" cx="4857750" cy="2066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df5713d8934a3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205F3-EC74-4FE8-AF93-35F0E5DE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53075"/>
            <a:ext cx="3381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Динамика по времени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425BC-166C-4953-8798-5E81CA23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81700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Дни и часы наблюдения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D11AF-C6DE-4E84-AB67-5D4775D6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53075"/>
            <a:ext cx="3381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Переход к событию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D9649-0468-458D-A534-010E5703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981700"/>
            <a:ext cx="3381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Клип, таймкоды и статус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E96A6-A912-4F0D-A93A-3B568C7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553075"/>
            <a:ext cx="27908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Экспорт Excel и 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E5ECC-2C73-4E54-B289-7734F55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981700"/>
            <a:ext cx="2790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Сводка и подробная таблица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83B54-3CF8-43E6-9BB4-5F00977C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55320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Демонстрационный срез: две камеры, 35 событий. Числа не являются оценкой точности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19807397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23DEB-0CC2-41BB-A681-664FC54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Реализация требований кейса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CF4EF-3913-4AE3-8896-DDB14786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A82C-1988-4E78-8AF8-00F8ACBB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478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Основные и дополнительные функции реализованы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3641A8-9E8B-4EAD-9299-B67954E9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Основные функции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2A0C9-CD6B-4872-AB4E-7C302301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81250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Дополнительные функции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3035F-903C-4643-BE19-D802B9EC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Приём видеопотока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2638B0-FE8A-48A8-AA43-85BEC8F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Нейросетевое распознавание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B3C74-F493-4C5C-B74B-4019461D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Оперативные оповещения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20E6-B6B2-4ECC-8068-BDF366B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Подавление повторных срабатываний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D2A66-7C44-4FFB-AD1E-C29E23EB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91150"/>
            <a:ext cx="5715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Журнал событий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037B4-2674-49B5-9D8C-F1FF8BB2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6705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Правила и зоны камер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D4F98C-EA4B-421B-AB05-FB19D963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4807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Статистика и экспорт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A1A06-B95C-4B5B-92FD-4FBF8975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Подтверждение событий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109C2-E6F3-4BBC-9586-CD0B27E2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10125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3F3B"/>
                </a:solidFill>
                <a:latin typeface="Arial"/>
                <a:ea typeface="Arial"/>
                <a:cs typeface="Arial"/>
              </a:rPr>
              <a:t>✓  Несколько видеопотоков</a:t>
            </a:r>
          </a:p>
        </p:txBody>
      </p:sp>
    </p:spTree>
    <p:extLst>
      <p:ext uri="{BB962C8B-B14F-4D97-AF65-F5344CB8AC3E}">
        <p14:creationId xmlns:p14="http://schemas.microsoft.com/office/powerpoint/2010/main" val="139551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F184C3-3238-4D4D-8922-2F6C172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Рабочее место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8E48D-868F-4027-A0CE-345090E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7662"/>
                </a:solidFill>
                <a:latin typeface="Arial"/>
                <a:ea typeface="Arial"/>
                <a:cs typeface="Arial"/>
              </a:rPr>
              <a:t>Одновременный мониторинг камер и обработка оповещений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E2E70-155F-4E82-9114-F510F9C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47CBD-C7E7-47E7-84DE-066E3137F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44f5eb7391418e"/>
          <a:srcRect xmlns:a="http://schemas.openxmlformats.org/drawingml/2006/main" l="21500" t="27000" r="4100" b="1300"/>
          <a:stretch xmlns:a="http://schemas.openxmlformats.org/drawingml/2006/main"/>
        </p:blipFill>
        <p:spPr>
          <a:xfrm xmlns:a="http://schemas.openxmlformats.org/drawingml/2006/main">
            <a:off x="619125" y="1971675"/>
            <a:ext cx="8286750" cy="4486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18E42-8619-4624-80C0-5C91E01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764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2261B-3321-4D80-93E9-B0CBB773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257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Мониторинг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EBFD3-74C4-4450-BD6E-F2381E63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43225"/>
            <a:ext cx="2257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Назначенные камеры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5B0E1-125C-4BBD-8D11-2D316F5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7190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78373-74CA-4E03-8A33-28761867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152900"/>
            <a:ext cx="2257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Оповещение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BD270A-4CAF-4851-AB0A-05850D1E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638675"/>
            <a:ext cx="2257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Тип, камера и время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106CA-7624-40DC-BDCB-89E7CD25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67350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45FB-12D7-431F-988F-92FD99E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48350"/>
            <a:ext cx="2257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Просмотр клипа</a:t>
            </a:r>
          </a:p>
        </p:txBody>
      </p:sp>
    </p:spTree>
    <p:extLst>
      <p:ext uri="{BB962C8B-B14F-4D97-AF65-F5344CB8AC3E}">
        <p14:creationId xmlns:p14="http://schemas.microsoft.com/office/powerpoint/2010/main" val="532475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9F8898-90A5-4B88-BCEB-744736631E29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172575" y="45243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0C929-A6C7-4A4E-9E41-8834E12E0DD7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28950" y="452437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07D0F-0DE1-4B82-AB87-77DEBE7DDB9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172575" y="35052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62F66-3197-49B5-8692-625AB4429E1D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028950" y="35052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369A14-4B3D-434E-A86E-0021DE7132A5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096000" y="2266950"/>
            <a:ext cx="3076575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3175B-1D1B-43AD-A9E9-51ABF12195E4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3028950" y="2266950"/>
            <a:ext cx="30670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89774-FA6A-465A-A272-3FCE305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Многоуровневая система доступа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33B26-96DB-4CE2-AEF1-4DFE73F5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BDFB2-F938-4F80-9032-FD9C59E1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562100"/>
            <a:ext cx="440055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Администратор платформы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B8B60-BAB7-443F-833E-707E304C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48196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Предприятие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79C76-1779-4863-8C9C-56D4DA6E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48196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Предприятие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1C35C-14D4-4C0A-9742-C02A06F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95725"/>
            <a:ext cx="48196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администратор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B891D-371B-4623-8099-D87F88D4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95725"/>
            <a:ext cx="481965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Локальный администратор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025C2-0ABA-4188-A3DF-319DD1B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48196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Оператор, мастер</a:t>
            </a:r>
          </a:p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Охрана труда, юрист</a:t>
            </a:r>
          </a:p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Менеджмент, работник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554FB-E4F7-4577-9EBD-842887CE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481965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Оператор, мастер</a:t>
            </a:r>
          </a:p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Охрана труда, юрист</a:t>
            </a:r>
          </a:p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Менеджмент, работник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606FC-3D77-41B1-BE5C-4FDD94E8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246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Разграничение данных по предприятию и назначенным камерам</a:t>
            </a:r>
          </a:p>
        </p:txBody>
      </p:sp>
    </p:spTree>
    <p:extLst>
      <p:ext uri="{BB962C8B-B14F-4D97-AF65-F5344CB8AC3E}">
        <p14:creationId xmlns:p14="http://schemas.microsoft.com/office/powerpoint/2010/main" val="4057866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0E831-6120-4B43-A0E3-815433CE039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05700" y="2852738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A41B2-E1F5-47C7-BFD2-3563A84DB7E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429000" y="2852738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7662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9BCBA-481F-4794-AD9F-378F3B9A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Разработка и внедрение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232D3-2C65-4485-B8A4-5F20514E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7662"/>
                </a:solidFill>
                <a:latin typeface="Arial"/>
                <a:ea typeface="Arial"/>
                <a:cs typeface="Arial"/>
              </a:rPr>
              <a:t>Обученные модели и приложение подготовлены к переносу на сервер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E28892-1D4E-4A67-A820-981895A8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579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DEF50-C570-41BB-B624-4AD14193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71725"/>
            <a:ext cx="2809875" cy="962025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Дообучение</a:t>
            </a:r>
          </a:p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моделей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B6008-73A5-497A-9EC0-3A30FA4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71725"/>
            <a:ext cx="2809875" cy="962025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E3EBD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Практическая</a:t>
            </a:r>
          </a:p>
          <a:p xmlns:a="http://schemas.openxmlformats.org/drawingml/2006/main">
            <a:pPr>
              <a:defRPr sz="202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BD3B6-759C-499A-8C5F-99EA7075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371725"/>
            <a:ext cx="2809875" cy="962025"/>
          </a:xfrm>
          <a:prstGeom xmlns:a="http://schemas.openxmlformats.org/drawingml/2006/main" prst="roundRect">
            <a:avLst>
              <a:gd name="adj" fmla="val 9901"/>
            </a:avLst>
          </a:prstGeom>
          <a:solidFill xmlns:a="http://schemas.openxmlformats.org/drawingml/2006/main">
            <a:srgbClr val="103F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Серверный</a:t>
            </a:r>
          </a:p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комплект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D2504-AAF3-4258-B3CD-150A01AE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76650"/>
            <a:ext cx="2933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Промышленные ракурсы</a:t>
            </a:r>
          </a:p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и сложные примеры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683C2-9FC0-4011-9FEF-95D9E6D4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676650"/>
            <a:ext cx="2933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Видеопримеры</a:t>
            </a:r>
          </a:p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и проверки приложения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B4CD0-43A5-4D84-A47F-FDE42D8A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676650"/>
            <a:ext cx="2809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Код, веса моделей</a:t>
            </a:r>
          </a:p>
          <a:p xmlns:a="http://schemas.openxmlformats.org/drawingml/2006/main">
            <a:pPr algn="l">
              <a:defRPr sz="1875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и инструкция запуска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2E0155-010B-4B8E-A5C5-6F18056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109347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766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87662"/>
                </a:solidFill>
                <a:latin typeface="Arial"/>
                <a:ea typeface="Arial"/>
                <a:cs typeface="Arial"/>
              </a:rPr>
              <a:t>LinQ: базовая YOLO12m скомпилирована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FDF4B0-A78C-435C-9946-AA3C548E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388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5716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169"/>
                </a:solidFill>
                <a:latin typeface="Arial"/>
                <a:ea typeface="Arial"/>
                <a:cs typeface="Arial"/>
              </a:rPr>
              <a:t>Проверка полного конвейера на ускорителе является следующим этапом</a:t>
            </a:r>
          </a:p>
        </p:txBody>
      </p:sp>
    </p:spTree>
    <p:extLst>
      <p:ext uri="{BB962C8B-B14F-4D97-AF65-F5344CB8AC3E}">
        <p14:creationId xmlns:p14="http://schemas.microsoft.com/office/powerpoint/2010/main" val="1301263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3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2843F-7CEF-4738-A4A1-E956335A730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58225" y="45815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DBD2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31B1-AAD4-4E8E-B121-3FAF7AC13A1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638800" y="45815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DBD2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000F-A494-416E-B2E8-06BBAA7E6FC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09875" y="4581525"/>
            <a:ext cx="733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5DBD2"/>
            </a:solidFill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1CE1A-BD33-44DE-99F5-53E5CE5A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6275"/>
            <a:ext cx="1081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LinQ 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69D80-9A96-4942-A852-E7D95C5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10906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Единый цикл контроля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промышленной безопасности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F2868-5950-43E7-91F5-1B5A4D09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38625"/>
            <a:ext cx="2190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5EC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Видеопоток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41993-4819-4A07-A699-F3DE8634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38625"/>
            <a:ext cx="20955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5EC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Событие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5F470-7274-4262-ACC4-60E7EEF8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238625"/>
            <a:ext cx="2286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5EC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Видеоклип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7725B-139D-45AB-B181-06CCB14A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38625"/>
            <a:ext cx="2190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D5EC9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42875" rIns="171450" bIns="142875" anchor="ctr"/>
          <a:lstStyle xmlns:a="http://schemas.openxmlformats.org/drawingml/2006/main">
            <a:def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3F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3F3B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DE454-0C40-487F-B315-985AB78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10925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C5DB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C5DBD2"/>
                </a:solidFill>
                <a:latin typeface="Arial"/>
                <a:ea typeface="Arial"/>
                <a:cs typeface="Arial"/>
              </a:rPr>
              <a:t>Функциональный прототип для демонстрации и апробации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1903B-8EBB-4448-9B3D-7CB5A7A0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6267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D5EC9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5EC9F"/>
                </a:solidFill>
                <a:latin typeface="Arial"/>
                <a:ea typeface="Arial"/>
                <a:cs typeface="Arial"/>
              </a:rPr>
              <a:t>InnTeam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37BE9-E0DC-449E-A465-938AC1D5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200775"/>
            <a:ext cx="4572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Благодарим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6125351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2026-10-25T03:42:42.6250000Z</dcterms:created>
  <dcterms:modified xsi:type="dcterms:W3CDTF">2026-10-25T03:42:42.6250000Z</dcterms:modified>
</coreProperties>
</file>