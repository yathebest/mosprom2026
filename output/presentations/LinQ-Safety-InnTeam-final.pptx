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2bb527cf124b0a" /><Relationship Type="http://schemas.openxmlformats.org/officeDocument/2006/relationships/extended-properties" Target="/docProps/app.xml" Id="Rdb3171afd6604f0a" /><Relationship Type="http://schemas.openxmlformats.org/officeDocument/2006/relationships/officeDocument" Target="/ppt/presentation.xml" Id="Rb80361e1aec244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0ec9b2f4e4e91"/>
  </p:sldMasterIdLst>
  <p:notesMasterIdLst>
    <p:notesMasterId xmlns:r="http://schemas.openxmlformats.org/officeDocument/2006/relationships" r:id="Re2cf04b0ba9b4983"/>
  </p:notesMasterIdLst>
  <p:sldIdLst>
    <p:sldId xmlns:r="http://schemas.openxmlformats.org/officeDocument/2006/relationships" id="256" r:id="R77c34cddc736490f"/>
    <p:sldId xmlns:r="http://schemas.openxmlformats.org/officeDocument/2006/relationships" id="257" r:id="R4d14b7597db44bbe"/>
    <p:sldId xmlns:r="http://schemas.openxmlformats.org/officeDocument/2006/relationships" id="258" r:id="Red3cf8f9ebb14cca"/>
    <p:sldId xmlns:r="http://schemas.openxmlformats.org/officeDocument/2006/relationships" id="259" r:id="R690f423c5b534750"/>
    <p:sldId xmlns:r="http://schemas.openxmlformats.org/officeDocument/2006/relationships" id="260" r:id="R6583f4dab4da4a76"/>
    <p:sldId xmlns:r="http://schemas.openxmlformats.org/officeDocument/2006/relationships" id="261" r:id="R90c501466ab245e5"/>
    <p:sldId xmlns:r="http://schemas.openxmlformats.org/officeDocument/2006/relationships" id="262" r:id="R607285acaad64773"/>
    <p:sldId xmlns:r="http://schemas.openxmlformats.org/officeDocument/2006/relationships" id="263" r:id="R776116c2ccea4994"/>
    <p:sldId xmlns:r="http://schemas.openxmlformats.org/officeDocument/2006/relationships" id="264" r:id="R516a007f53c142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aa18cda54c4f2e" /><Relationship Type="http://schemas.openxmlformats.org/officeDocument/2006/relationships/slideMaster" Target="/ppt/slideMasters/slideMaster1.xml" Id="R2c60ec9b2f4e4e91" /><Relationship Type="http://schemas.openxmlformats.org/officeDocument/2006/relationships/notesMaster" Target="/ppt/notesMasters/notesMaster1.xml" Id="Re2cf04b0ba9b4983" /><Relationship Type="http://schemas.openxmlformats.org/officeDocument/2006/relationships/presProps" Target="/ppt/presProps.xml" Id="R6fb43b94d15242da" /><Relationship Type="http://schemas.openxmlformats.org/officeDocument/2006/relationships/tableStyles" Target="/ppt/tableStyles.xml" Id="R6331a1d8148f4a30" /><Relationship Type="http://schemas.openxmlformats.org/officeDocument/2006/relationships/slide" Target="/ppt/slides/slide1.xml" Id="R77c34cddc736490f" /><Relationship Type="http://schemas.openxmlformats.org/officeDocument/2006/relationships/slide" Target="/ppt/slides/slide2.xml" Id="R4d14b7597db44bbe" /><Relationship Type="http://schemas.openxmlformats.org/officeDocument/2006/relationships/slide" Target="/ppt/slides/slide3.xml" Id="Red3cf8f9ebb14cca" /><Relationship Type="http://schemas.openxmlformats.org/officeDocument/2006/relationships/slide" Target="/ppt/slides/slide4.xml" Id="R690f423c5b534750" /><Relationship Type="http://schemas.openxmlformats.org/officeDocument/2006/relationships/slide" Target="/ppt/slides/slide5.xml" Id="R6583f4dab4da4a76" /><Relationship Type="http://schemas.openxmlformats.org/officeDocument/2006/relationships/slide" Target="/ppt/slides/slide6.xml" Id="R90c501466ab245e5" /><Relationship Type="http://schemas.openxmlformats.org/officeDocument/2006/relationships/slide" Target="/ppt/slides/slide7.xml" Id="R607285acaad64773" /><Relationship Type="http://schemas.openxmlformats.org/officeDocument/2006/relationships/slide" Target="/ppt/slides/slide8.xml" Id="R776116c2ccea4994" /><Relationship Type="http://schemas.openxmlformats.org/officeDocument/2006/relationships/slide" Target="/ppt/slides/slide9.xml" Id="R516a007f53c142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3a7e7274eb4f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216c5a1f2c456a" /><Relationship Type="http://schemas.openxmlformats.org/officeDocument/2006/relationships/notesMaster" Target="/ppt/notesMasters/notesMaster1.xml" Id="Rde3c607083b9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844638fd144273" /><Relationship Type="http://schemas.openxmlformats.org/officeDocument/2006/relationships/notesMaster" Target="/ppt/notesMasters/notesMaster1.xml" Id="R6a337919e5ad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86dab5a3144465" /><Relationship Type="http://schemas.openxmlformats.org/officeDocument/2006/relationships/notesMaster" Target="/ppt/notesMasters/notesMaster1.xml" Id="R48b49087e616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669792adf0484b" /><Relationship Type="http://schemas.openxmlformats.org/officeDocument/2006/relationships/notesMaster" Target="/ppt/notesMasters/notesMaster1.xml" Id="R2a4f1e12d5cf4b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8a8cf2910941ef" /><Relationship Type="http://schemas.openxmlformats.org/officeDocument/2006/relationships/notesMaster" Target="/ppt/notesMasters/notesMaster1.xml" Id="R5acabcffab8f49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51303ab94b4507" /><Relationship Type="http://schemas.openxmlformats.org/officeDocument/2006/relationships/notesMaster" Target="/ppt/notesMasters/notesMaster1.xml" Id="R74fc8ce541074b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696118db684665" /><Relationship Type="http://schemas.openxmlformats.org/officeDocument/2006/relationships/notesMaster" Target="/ppt/notesMasters/notesMaster1.xml" Id="Racfbb0482d4d49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33fd326b7f40b3" /><Relationship Type="http://schemas.openxmlformats.org/officeDocument/2006/relationships/notesMaster" Target="/ppt/notesMasters/notesMaster1.xml" Id="R9c86efff53ce4c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b6b455998c4fe9" /><Relationship Type="http://schemas.openxmlformats.org/officeDocument/2006/relationships/notesMaster" Target="/ppt/notesMasters/notesMaster1.xml" Id="R042b49a43da243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0:00–0:10</a:t>
            </a:r>
          </a:p>
          <a:p xmlns:a="http://schemas.openxmlformats.org/drawingml/2006/main">
            <a:r>
              <a:t>Мы InnTeam. LinQ Safety замечает нарушения на камерах предприятия и сохраняет доказательство. Покажем путь от кадра до статистики.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подготовки:</a:t>
            </a:r>
          </a:p>
          <a:p xmlns:a="http://schemas.openxmlformats.org/drawingml/2006/main">
            <a:r>
              <a:t>0:00–0:10</a:t>
            </a:r>
          </a:p>
          <a:p xmlns:a="http://schemas.openxmlformats.org/drawingml/2006/main">
            <a:r>
              <a:t>Мы InnTeam. LinQ Safety замечает нарушения на камерах предприятия и сохраняет доказательство. Покажем путь от кадра до статистики.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0:10–0:32</a:t>
            </a:r>
          </a:p>
          <a:p xmlns:a="http://schemas.openxmlformats.org/drawingml/2006/main">
            <a:r>
              <a:t>Задача кейса — автоматически выявлять нарушения техники безопасности по видео и оперативно оповещать ответственных. Наш фокус — восемь сценариев. Справа масштаб проблемы: по оценке МОТ в мире произошло 395 миллионов несмертельных травм на работе за год. Это глобальная оценка за 2019 год, не показатель нашего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подготовки:</a:t>
            </a:r>
          </a:p>
          <a:p xmlns:a="http://schemas.openxmlformats.org/drawingml/2006/main">
            <a:r>
              <a:t>0:10–0:32</a:t>
            </a:r>
          </a:p>
          <a:p xmlns:a="http://schemas.openxmlformats.org/drawingml/2006/main">
            <a:r>
              <a:t>Задача кейса — автоматически выявлять нарушения техники безопасности по видео с камер предприятия и оперативно оповещать ответственных. Наш фокус — восемь сценариев. Справа масштаб проблемы: по оценке Международной организации труда за 2019 год в мире произошло 395 миллионов несмертельных травм на работе. Это годовая глобальная оценка, не число российских происшествий и не результат нашего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https://www.ilo.org/resource/news/nearly-3-million-people-die-work-related-accidents-and-diseases, публикация 2023 года. Требования кейса: КЕЙС LinQ, страница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0:32–0:57</a:t>
            </a:r>
          </a:p>
          <a:p xmlns:a="http://schemas.openxmlformats.org/drawingml/2006/main">
            <a:r>
              <a:t>На входе поток камеры или запись. YOLO12m находит людей, pose-модель определяет ключевые точки. Отдельные модели проверяют СИЗ и предметы, временная модель помогает определять падения. Трекер присваивает человеку ID. Состояние меняется после серии согласованных наблюдений. Правила учитывают зоны камеры. На выходе — тревога, клип и запись в журнале.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подготовки:</a:t>
            </a:r>
          </a:p>
          <a:p xmlns:a="http://schemas.openxmlformats.org/drawingml/2006/main">
            <a:r>
              <a:t>0:32–0:57 На входе прямой поток или загруженная запись. YOLO12m находит людей, pose-модель даёт ключевые точки. Отдельные детекторы и классификаторы проверяют голову, торс, телефон и другие предметы. Для падений используем также ResNet18 с временной GRU. Трекер связывает наблюдения с ID человека. Состояние меняется после серии согласованных наблюдений, поэтому один кадр не должен создавать новую тревогу. Для зон используем размеченные полигоны. На выходе — событие, доказательство и запись в журнале. Состав runtime: app/inference.py, app/scenario_models.py, app/fall_temporal.py, app/temporal_state.py.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0:57–1:20</a:t>
            </a:r>
          </a:p>
          <a:p xmlns:a="http://schemas.openxmlformats.org/drawingml/2006/main">
            <a:r>
              <a:t>Наши инновации — связка доказательства и аналитики. Здесь настоящая карточка события: камера, человек, тайминги и длительность клипа. Один фрагмент объединяет одновременные нарушения нескольких людей. Аналитика показывает, что повторяется, где и когда, с выбором периода и экспортом таблицы.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подготовки:</a:t>
            </a:r>
          </a:p>
          <a:p xmlns:a="http://schemas.openxmlformats.org/drawingml/2006/main">
            <a:r>
              <a:t>0:57–1:20</a:t>
            </a:r>
          </a:p>
          <a:p xmlns:a="http://schemas.openxmlformats.org/drawingml/2006/main">
            <a:r>
              <a:t>Наши инновации в рамках проекта — связка доказательства и аналитики. Здесь реальная карточка события: камера, человек, тайминги и длительность сохранённого клипа. Один фрагмент объединяет одновременные нарушения нескольких людей. Аналитика показывает, что повторяется, где и когда, с выбором периода и экспортом таблицы.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Карточка предоставлена пользователем. Тайминги относятся к фрагменту, не ко всей длительности нарушения. График справа — учебный срез камер A и B: 31 no_helmet, 4 fire. Не статистика реального производства. «Инновации» обозначает особенности решения, не заявление о мировом первенстве.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1:20–1:36</a:t>
            </a:r>
          </a:p>
          <a:p xmlns:a="http://schemas.openxmlformats.org/drawingml/2006/main">
            <a:r>
              <a:t>Реализованы приём видео, нейросетевой анализ, web-тревоги, подавление повторов и журнал. Дополнительно есть зоны, статистика, решения по событиям и несколько потоков. Галочки означают наличие функций. Полный конвейер и скорость на LinQ требуют аппаратной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подготовки:</a:t>
            </a:r>
          </a:p>
          <a:p xmlns:a="http://schemas.openxmlformats.org/drawingml/2006/main">
            <a:r>
              <a:t>1:20–1:36 Сопоставили продукт с требованиями кейса. Реализовали приём видео, нейросетевой анализ, web-тревоги, подавление повторов и журнал. Дополнительно есть настройка зон, статистика, решения по событиям и одновременное наблюдение нескольких потоков. На локальном стенде проверяли два источника. Галочки обозначают наличие функций, а не стопроцентную точность каждого паттерна. По LinQ подготовлена компиляция базового YOLO12m; полную систему и её скорость на устройстве ещё нужно подтвердить. Источник требований: КЕЙС LinQ, страница 13. Текущее покрытие: docs/coverage.json и app/pattern-policy.json.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1:36–1:53</a:t>
            </a:r>
          </a:p>
          <a:p xmlns:a="http://schemas.openxmlformats.org/drawingml/2006/main">
            <a:r>
              <a:t>Это действующий интерфейс на двух потоках. Камеры переключаются, остальные продолжают работать. Тревоги всегда рядом с видео. Из них можно открыть нужную камеру или доказательство. Здесь учебный replay публичных заводских записей.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подготовки:</a:t>
            </a:r>
          </a:p>
          <a:p xmlns:a="http://schemas.openxmlformats.org/drawingml/2006/main">
            <a:r>
              <a:t>1:36–1:53</a:t>
            </a:r>
          </a:p>
          <a:p xmlns:a="http://schemas.openxmlformats.org/drawingml/2006/main">
            <a:r>
              <a:t>Это действующий интерфейс на двух потоках. Камеры переключаются сверху, тревоги всегда рядом с видео. Можно сразу открыть нужную камеру или доказательство. Остальные потоки продолжают работать. Доступ разделён по предприятиям и ролям. Здесь учебный replay публичных заводских записей.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Скриншот локального приложения: data/samples/pattern-audit-20261025/live-final.png. Изображение кадрировано для читаемости, значения и содержание сохранены.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1:53–2:10</a:t>
            </a:r>
          </a:p>
          <a:p xmlns:a="http://schemas.openxmlformats.org/drawingml/2006/main">
            <a:r>
              <a:t>Платформа поддерживает несколько предприятий. Глобальный администратор назначает локальных администраторов, те управляют сотрудниками. Оператор наблюдает камеры, мастер видит свой участок, остальные роли получают нужные функции. Данные и права предприятий изолированы.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подготовки:</a:t>
            </a:r>
          </a:p>
          <a:p xmlns:a="http://schemas.openxmlformats.org/drawingml/2006/main">
            <a:r>
              <a:t>1:53–2:10</a:t>
            </a:r>
          </a:p>
          <a:p xmlns:a="http://schemas.openxmlformats.org/drawingml/2006/main">
            <a:r>
              <a:t>Платформа поддерживает несколько предприятий. Глобальный администратор принимает заявки и назначает локальных администраторов. Внутри предприятия администратор управляет сотрудниками. Операторы следят за камерами, мастер видит назначенный участок, остальные роли получают нужные функции. Данные и права предприятий изолированы.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app/auth.py:ROLES и docs/access-control.ru.md. Специалист по охране труда настраивает правила, служба ОТ/юрист изучает журнал и доказательства, менеджмент видит агрегаты, работник — памятку и аккаунт.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2:10–2:32</a:t>
            </a:r>
          </a:p>
          <a:p xmlns:a="http://schemas.openxmlformats.org/drawingml/2006/main">
            <a:r>
              <a:t>Статистика показывает доли нарушений и сравнение камер. Можно менять период и фильтры, изучать динамику и выгружать Excel или CSV. На графике учебные данные: 31 событие без каски и четыре с огнём. Это демонстрация аналитики, не точность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подготовки:</a:t>
            </a:r>
          </a:p>
          <a:p xmlns:a="http://schemas.openxmlformats.org/drawingml/2006/main">
            <a:r>
              <a:t>2:10–2:32 Статистика показывает структуру событий и сравнение камер, а не очередь разбора. Пользователь выбирает период, камеру и нужный статус, видит доли паттернов и динамику, затем выгружает подробный Excel или CSV. Здесь реальные данные учебного стенда: на камере A 27 событий без каски, на B — четыре без каски и четыре с огнём. Поэтому 88,6 процента выбранных 35 событий относятся к каскам. Это демонстрация аналитики, не производственная статистика и не метрика точности. Данные SQLite QA на 25.10.2026. График редактируемый; он воспроизводит срез данных, а не выдаётся за скриншот интерфейса.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2:32–3:00</a:t>
            </a:r>
          </a:p>
          <a:p xmlns:a="http://schemas.openxmlformats.org/drawingml/2006/main">
            <a:r>
              <a:t>Мы расширяли данные, дообучали модели и проверяли события на видео. Код, веса и настройки собрали в серверный архив. Базовая YOLO12m скомпилирована для LinQ. Следующий этап — проверить полный конвейер на устройстве и измерить задержку. Фокус продукта — быстро заметить событие, дать доказательство и показать общую картину безопасности.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подготовки:</a:t>
            </a:r>
          </a:p>
          <a:p xmlns:a="http://schemas.openxmlformats.org/drawingml/2006/main">
            <a:r>
              <a:t>2:32–3:00 Мы дообучали модели на расширенных данных и проверяли не только кадры, но и итоговые события на видео. Для людей, СИЗ и предметов использовали отдельные эксперименты и сохраняли веса. Код, модели и настройки упакованы для переноса на сервер. Базовая YOLO12m скомпилирована для LinQ, но это не означает ускорение всего ансамбля. Следующий этап — проверить полный конвейер на устройстве и измерить задержку. Ограничения текущего прототипа — мелкие объекты и перенос на дальние камеры: поэтому качество оцениваем по сценариям, не обещаем универсальные 95 процентов. Репозиторий: https://github.com/yathebest/mosprom2026. Технические источники: docs/yolo12m-compatibility.json, docs/pattern-audit-summary-20261025.json, MODEL_INVENTORY.json в серверном архиве.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a4c43400a4e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b2f0afc7d4d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d2ea5d5604d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d6254c9dd44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cccec285347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dea20f1ca43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118701-015B-442D-B647-90BEB28D5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948069-FAF9-4B32-87BE-60012DAF92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5A3295-4C56-43A0-9885-060ABB1B9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BB8C8C-6F64-4982-9AB9-62AB97CBFB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E3CE16-16F7-42C5-B9C5-9A987E0088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A2391D-7284-49D9-96F1-FD8612853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CDC49D-5679-4932-842F-AD0036AA05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19FA36-C9C0-448F-AA74-F36A6CCFC1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BFD341-60BC-4FC0-8773-932F28E92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88A5C5-E2EE-45D8-88EB-237D659388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4ec94be66d489d" /><Relationship Type="http://schemas.openxmlformats.org/officeDocument/2006/relationships/slideLayout" Target="/ppt/slideLayouts/slideLayout1.xml" Id="R5c4c247b7e374c3a" /><Relationship Type="http://schemas.openxmlformats.org/officeDocument/2006/relationships/slideLayout" Target="/ppt/slideLayouts/slideLayout2.xml" Id="R03c5c29f34444c43" /><Relationship Type="http://schemas.openxmlformats.org/officeDocument/2006/relationships/slideLayout" Target="/ppt/slideLayouts/slideLayout3.xml" Id="R5098f9f958824dff" /><Relationship Type="http://schemas.openxmlformats.org/officeDocument/2006/relationships/slideLayout" Target="/ppt/slideLayouts/slideLayout4.xml" Id="Ra65673614b564013" /><Relationship Type="http://schemas.openxmlformats.org/officeDocument/2006/relationships/slideLayout" Target="/ppt/slideLayouts/slideLayout5.xml" Id="R36c4eeb660a2467e" /><Relationship Type="http://schemas.openxmlformats.org/officeDocument/2006/relationships/slideLayout" Target="/ppt/slideLayouts/slideLayout6.xml" Id="Rb2e03fe5e7184a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c247b7e374c3a"/>
    <p:sldLayoutId xmlns:r="http://schemas.openxmlformats.org/officeDocument/2006/relationships" id="2147483650" r:id="R03c5c29f34444c43"/>
    <p:sldLayoutId xmlns:r="http://schemas.openxmlformats.org/officeDocument/2006/relationships" id="2147483651" r:id="R5098f9f958824dff"/>
    <p:sldLayoutId xmlns:r="http://schemas.openxmlformats.org/officeDocument/2006/relationships" id="2147483652" r:id="Ra65673614b564013"/>
    <p:sldLayoutId xmlns:r="http://schemas.openxmlformats.org/officeDocument/2006/relationships" id="2147483653" r:id="R36c4eeb660a2467e"/>
    <p:sldLayoutId xmlns:r="http://schemas.openxmlformats.org/officeDocument/2006/relationships" id="2147483654" r:id="Rb2e03fe5e7184a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6004398004b1b" /><Relationship Type="http://schemas.openxmlformats.org/officeDocument/2006/relationships/notesSlide" Target="/ppt/notesSlides/notesSlide1.xml" Id="R13f42ade8f6b46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dba5463a44e3e" /><Relationship Type="http://schemas.openxmlformats.org/officeDocument/2006/relationships/notesSlide" Target="/ppt/notesSlides/notesSlide2.xml" Id="Rbebff36882294a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011bca28cd42d9" /><Relationship Type="http://schemas.openxmlformats.org/officeDocument/2006/relationships/notesSlide" Target="/ppt/notesSlides/notesSlide3.xml" Id="Rb7cf561444884f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1443245584a96" /><Relationship Type="http://schemas.openxmlformats.org/officeDocument/2006/relationships/image" Target="/ppt/media/image.png" Id="Rba53362cefd94065" /><Relationship Type="http://schemas.openxmlformats.org/officeDocument/2006/relationships/chart" Target="/ppt/slides/charts/chart1.xml" Id="R4ef98e6f6121424f" /><Relationship Type="http://schemas.openxmlformats.org/officeDocument/2006/relationships/notesSlide" Target="/ppt/notesSlides/notesSlide4.xml" Id="R1ab1aa849f1d4a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eef684dae4aff" /><Relationship Type="http://schemas.openxmlformats.org/officeDocument/2006/relationships/notesSlide" Target="/ppt/notesSlides/notesSlide5.xml" Id="Rd0e01176e8cf42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1eec678a748f5" /><Relationship Type="http://schemas.openxmlformats.org/officeDocument/2006/relationships/image" Target="/ppt/media/image.jpeg" Id="R4856d999e99e4660" /><Relationship Type="http://schemas.openxmlformats.org/officeDocument/2006/relationships/notesSlide" Target="/ppt/notesSlides/notesSlide6.xml" Id="Rd9d9030a9b8944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ee29d1a064805" /><Relationship Type="http://schemas.openxmlformats.org/officeDocument/2006/relationships/notesSlide" Target="/ppt/notesSlides/notesSlide7.xml" Id="R056a1465390a4d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d8f79569e4414" /><Relationship Type="http://schemas.openxmlformats.org/officeDocument/2006/relationships/chart" Target="/ppt/slides/charts/chart2.xml" Id="Rac56ab697b214143" /><Relationship Type="http://schemas.openxmlformats.org/officeDocument/2006/relationships/notesSlide" Target="/ppt/notesSlides/notesSlide8.xml" Id="R5d1d4d465bcc41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3167e0bc04ef6" /><Relationship Type="http://schemas.openxmlformats.org/officeDocument/2006/relationships/notesSlide" Target="/ppt/notesSlides/notesSlide9.xml" Id="Rb364247dc367433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События</c:v>
          </c:tx>
          <c:spPr>
            <a:solidFill xmlns:a="http://schemas.openxmlformats.org/drawingml/2006/main">
              <a:srgbClr val="257C6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Без каски</c:v>
                </c:pt>
                <c:pt idx="1">
                  <c:v>Огонь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</c:v>
                </c:pt>
                <c:pt idx="1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73E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1"/>
        </a:solidFill>
      </c:spPr>
    </c:plotArea>
    <c:plotVisOnly val="1"/>
  </c:chart>
  <c:spPr>
    <a:solidFill xmlns:a="http://schemas.openxmlformats.org/drawingml/2006/main">
      <a:srgbClr val="F4F7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Без каски</c:v>
          </c:tx>
          <c:spPr>
            <a:solidFill xmlns:a="http://schemas.openxmlformats.org/drawingml/2006/main">
              <a:srgbClr val="257C6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Камера A</c:v>
                </c:pt>
                <c:pt idx="1">
                  <c:v>Камера B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27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v>Открытый огонь</c:v>
          </c:tx>
          <c:spPr>
            <a:solidFill xmlns:a="http://schemas.openxmlformats.org/drawingml/2006/main">
              <a:srgbClr val="B66C33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Камера A</c:v>
                </c:pt>
                <c:pt idx="1">
                  <c:v>Камера B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</c:ser>
        <c:dLbls>
          <c:numFmt formatCode="0;-0;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1D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4F7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073E3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8236D-47BD-498D-8E11-87F3CD98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LinQ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F904C-9262-47D0-B564-C2CC85D9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0096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Каждое происшествие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 доказательством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D0246-D702-4096-95C3-A80E547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5DDD5"/>
                </a:solidFill>
                <a:latin typeface="Arial"/>
                <a:ea typeface="Arial"/>
                <a:cs typeface="Arial"/>
              </a:rPr>
              <a:t>Видеоаналитика промышленной безопасности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BA92E-7451-4059-B1DE-F624D220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BEA7E"/>
                </a:solidFill>
                <a:latin typeface="Arial"/>
                <a:ea typeface="Arial"/>
                <a:cs typeface="Arial"/>
              </a:rPr>
              <a:t>InnTeam</a:t>
            </a:r>
          </a:p>
        </p:txBody>
      </p:sp>
    </p:spTree>
    <p:extLst>
      <p:ext uri="{BB962C8B-B14F-4D97-AF65-F5344CB8AC3E}">
        <p14:creationId xmlns:p14="http://schemas.microsoft.com/office/powerpoint/2010/main" val="2085016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44D62-4E11-4E49-88AF-A870776B61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62475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7C63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135F0-DB53-46E0-A75D-E6A83D11312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95525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7C63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EDFFB-FC5D-4958-811E-B459A001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Задача кейса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04E66-654D-4423-8DB6-8BFF41DC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72866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Автоматически выявлять</a:t>
            </a:r>
          </a:p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нарушения техники</a:t>
            </a:r>
          </a:p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безопасности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02962-FD88-4B96-9C90-EB02E53E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По видео с камер предприятия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21782-BEB9-4E78-A61B-2789E299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76775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61925" tIns="161925" rIns="161925" bIns="161925"/>
          <a:lstStyle xmlns:a="http://schemas.openxmlformats.org/drawingml/2006/main">
            <a:def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Камеры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9838E-0407-42EC-BC64-02F8D80E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676775"/>
            <a:ext cx="1790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61925" tIns="161925" rIns="161925" bIns="161925"/>
          <a:lstStyle xmlns:a="http://schemas.openxmlformats.org/drawingml/2006/main">
            <a:def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Детекция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BA6C0-8E9A-497D-B63A-38261A60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676775"/>
            <a:ext cx="2524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61925" tIns="161925" rIns="161925" bIns="161925"/>
          <a:lstStyle xmlns:a="http://schemas.openxmlformats.org/drawingml/2006/main">
            <a:def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Тревога + клип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C59BF-CD77-4903-96D8-BCE23764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395 млн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9C729-5BD5-465E-B96F-86C4782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несмертельных травм</a:t>
            </a:r>
          </a:p>
          <a:p xmlns:a="http://schemas.openxmlformats.org/drawingml/2006/main">
            <a:pPr>
              <a:defRPr sz="202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на работе за год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46A6F-8F96-4BC6-8130-BBAEC03B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Во всём мире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ED08B-F83C-4968-A743-622DB23D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72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МОТ, оценка за 2019 год</a:t>
            </a:r>
          </a:p>
          <a:p xmlns:a="http://schemas.openxmlformats.org/drawingml/2006/main">
            <a:pPr>
              <a:defRPr sz="14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Публикация 2023 года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12930-E771-466D-BE44-B698F593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8 сценариев безопасности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82B43-0B11-44B2-A6C3-9E8123A0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8154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7CB67-C6BA-4675-86FE-D2DAD5295CB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934450" y="3386138"/>
            <a:ext cx="5334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7C63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18BF3-6536-43A0-B1B9-432A725DD00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543675" y="3400425"/>
            <a:ext cx="514350" cy="2333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7C63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AAD51-12E8-446E-A406-39565B513F4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86000" y="3295650"/>
            <a:ext cx="428625" cy="3381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7C63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CF7B9-6515-41A4-A3DA-2169F499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Как кадр становится событием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50A79-620A-42D9-9A27-A331D1B5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586A3-57FC-4874-9768-A4AC1F38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695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C9BC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Камера</a:t>
            </a:r>
          </a:p>
          <a:p xmlns:a="http://schemas.openxmlformats.org/drawingml/2006/main">
            <a:pPr>
              <a:defRPr sz="21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или запись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E9A9D-0950-4582-A19B-29213AA8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95475"/>
            <a:ext cx="38290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DF"/>
          </a:solidFill>
          <a:ln xmlns:a="http://schemas.openxmlformats.org/drawingml/2006/main" w="9525">
            <a:solidFill>
              <a:srgbClr val="AAC9BC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1D509-9D5A-49EB-B952-B18A83D2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71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Люди и поза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63131-6993-4E0C-9AB1-3BDFB4E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241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YOLO12m + YOLOv8-pose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374C4-9E7B-4824-B8ED-033584C4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4575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СИЗ и предметы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C6334-4A02-4B73-815A-09803E84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8100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Детекторы + crop-классификаторы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BBEDA-3328-4ADB-85BD-C262AB17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524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Падения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994F5-AEC0-41A8-9D47-BBBE150E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876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ResNet18 + GRU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ED6BD-9823-435A-B194-FE5F03DF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187642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5"/>
          </a:solidFill>
          <a:ln xmlns:a="http://schemas.openxmlformats.org/drawingml/2006/main" w="9525">
            <a:solidFill>
              <a:srgbClr val="AAC9BC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ID человека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Состояние</a:t>
            </a:r>
          </a:p>
          <a:p xmlns:a="http://schemas.openxmlformats.org/drawingml/2006/main">
            <a: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во времени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F432D-6273-40DB-98B9-5BB5CABD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20288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36"/>
          </a:solidFill>
          <a:ln xmlns:a="http://schemas.openxmlformats.org/drawingml/2006/main" w="9525">
            <a:solidFill>
              <a:srgbClr val="AAC9BC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Тревога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Клип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1E5CD-5453-4D7E-9DA4-71348945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Зоны и правила камеры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A4381-C882-439F-9BD8-919376A4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667375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Порог подтверждения зависит от паттерна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1D451-82DE-48AE-B583-0146E335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4787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</p:spTree>
    <p:extLst>
      <p:ext uri="{BB962C8B-B14F-4D97-AF65-F5344CB8AC3E}">
        <p14:creationId xmlns:p14="http://schemas.microsoft.com/office/powerpoint/2010/main" val="857656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D2384-E8D6-44F0-9F48-782EAA92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Инновации LinQ Safety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8E769-B4BE-4C6E-86A4-6D6D036BC2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3362cefd94065"/>
          <a:stretch xmlns:a="http://schemas.openxmlformats.org/drawingml/2006/main"/>
        </p:blipFill>
        <p:spPr>
          <a:xfrm xmlns:a="http://schemas.openxmlformats.org/drawingml/2006/main">
            <a:off x="609600" y="1799670"/>
            <a:ext cx="10972800" cy="152511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86CF7-2811-4B51-8F06-EC984AF0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147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Клип-доказательство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86924-B160-460E-9C2A-9E3C4E18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0:00.4 — 0:07.4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6D901-09F6-47CD-9862-FD26A240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7,02 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C0F86-98FC-4149-8ACE-3DE1D53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19750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длительность клипа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E2EFE-38B1-482C-ABE1-5C97C86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147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Аналитика нарушений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1A78745-F65E-4F18-8FB9-BB3829FD0E3F}"/>
              </a:ext>
            </a:extLst>
          </p:cNvPr>
          <p:cNvGraphicFramePr/>
          <p:nvPr/>
        </p:nvGraphicFramePr>
        <p:xfrm>
          <a:off xmlns:a="http://schemas.openxmlformats.org/drawingml/2006/main" x="8391525" y="4572000"/>
          <a:ext xmlns:a="http://schemas.openxmlformats.org/drawingml/2006/main" cx="309562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f98e6f6121424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FDC6E-D901-4A6A-A30D-26F46AD4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150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Камеры, период, доли, Excel /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16CCF-23E7-4D48-87AE-83AF04C5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Огонь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5A63A-9019-4766-A77F-E40E9DF4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91125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Без каски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E3310-A0A7-49FE-80A7-8FB57814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816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Учебный стенд</a:t>
            </a:r>
          </a:p>
        </p:txBody>
      </p:sp>
    </p:spTree>
    <p:extLst>
      <p:ext uri="{BB962C8B-B14F-4D97-AF65-F5344CB8AC3E}">
        <p14:creationId xmlns:p14="http://schemas.microsoft.com/office/powerpoint/2010/main" val="939886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66B11-EC0D-44A8-83AA-02A6140D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Функции по требованиям кейса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40D8B-156E-457A-9239-6999B714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B3678-E688-4B63-BD33-C3F6B54B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Основные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CA6ED-4FA0-4DB6-8983-113A39C3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Дополнительные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63BBF-4CD0-412A-BD9E-EF782D78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✓  Приём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46206-713B-4E3A-90D3-9B76340F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✓  Нейросетевое распознавание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C5ABB-DF6A-44A5-AAD3-AE367475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✓  Web-оповещения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D3973-B975-4CF1-83B9-9924588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✓  Подавление повторов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4E940-11AA-4A88-9ED3-F9B42B99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✓  Журнал с фильтрами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C7F7B-4E0B-492B-A169-6F7C9F25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✓  Правила и зоны камер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D942A-7EE7-47A0-A6C1-CE7240EE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2420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✓  Статистика событий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CE06A-9BDF-42EF-8D59-55E6D75E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✓  Подтверждение и отклонение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775AE-FF7F-43DE-B3F9-092FEFB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2910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73E36"/>
                </a:solidFill>
                <a:latin typeface="Arial"/>
                <a:ea typeface="Arial"/>
                <a:cs typeface="Arial"/>
              </a:rPr>
              <a:t>✓  Несколько потоков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A0229-E124-47B7-87E9-911D686D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65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76522"/>
                </a:solidFill>
                <a:latin typeface="Arial"/>
                <a:ea typeface="Arial"/>
                <a:cs typeface="Arial"/>
              </a:rPr>
              <a:t>LinQ: компиляция YOLO12m готова, полный конвейер требует проверки на устройстве</a:t>
            </a:r>
          </a:p>
        </p:txBody>
      </p:sp>
    </p:spTree>
    <p:extLst>
      <p:ext uri="{BB962C8B-B14F-4D97-AF65-F5344CB8AC3E}">
        <p14:creationId xmlns:p14="http://schemas.microsoft.com/office/powerpoint/2010/main" val="1073096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BDE60-1DB3-4A19-B0F5-479AD079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Камеры и тревоги на одном экране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86B5E-1398-4468-BECF-2A8F07D69D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6d999e99e4660"/>
          <a:srcRect xmlns:a="http://schemas.openxmlformats.org/drawingml/2006/main" l="21500" t="48000" r="4100" b="1300"/>
          <a:stretch xmlns:a="http://schemas.openxmlformats.org/drawingml/2006/main"/>
        </p:blipFill>
        <p:spPr>
          <a:xfrm xmlns:a="http://schemas.openxmlformats.org/drawingml/2006/main">
            <a:off x="609600" y="1628775"/>
            <a:ext cx="10972800" cy="421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61CDD-F9F9-4B14-84D8-28857DF0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86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BEA7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BEA7E"/>
                </a:solidFill>
                <a:latin typeface="Arial"/>
                <a:ea typeface="Arial"/>
                <a:cs typeface="Arial"/>
              </a:rPr>
              <a:t>Несколько камер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22EF7-E917-4396-A91D-0FCAAB95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6286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Тревоги рядом с видео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7A4DD-30FB-4546-9C1B-B2DE0259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DD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3927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7CA12-37E0-4AC0-A3A4-1A3FC30D907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977313" y="437197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7C63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9BE7E-617C-420E-BA5E-BB218CD8B97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14688" y="437197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7C63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15238-EC79-44D5-8E63-E75D1556E50D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977313" y="3429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7C63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DD200-EAB4-4ED9-9EAF-7EC6187EB82D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214688" y="3429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7C63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4F10D-67A7-48AC-BD50-6BC9B88A8EEC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105025"/>
            <a:ext cx="2881313" cy="695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57C63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D30B9-D095-4AFE-AF33-4AEFE121606D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3214688" y="2105025"/>
            <a:ext cx="2881313" cy="695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57C63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DB5BB-6F56-4DC1-8BB3-48B313AA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Роли и предприятия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CE6B5-4810-4019-A061-F4AAE8DA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19225"/>
            <a:ext cx="4114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Администратор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189FD-221F-49ED-8777-A4C130EC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714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Предприятие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BBDBE-0647-4728-9AC4-C08A6C22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00350"/>
            <a:ext cx="4714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Предприятие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3CC35-D7A1-4CA5-8086-8CBB5F5A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714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администратор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8F2DA-67F0-4B83-98D6-C212F884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52850"/>
            <a:ext cx="4714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администратор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31E58-5202-4685-8BBD-8EDC9FD7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4714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Оператор, мастер</a:t>
            </a:r>
          </a:p>
          <a:p xmlns:a="http://schemas.openxmlformats.org/drawingml/2006/main">
            <a: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Специалист ОТ, юрист</a:t>
            </a:r>
          </a:p>
          <a:p xmlns:a="http://schemas.openxmlformats.org/drawingml/2006/main">
            <a: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Менеджмент, работник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A8322-0946-4649-A0C0-39B38A6A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33925"/>
            <a:ext cx="47148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/>
          <a:lstStyle xmlns:a="http://schemas.openxmlformats.org/drawingml/2006/main">
            <a:def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Оператор, мастер</a:t>
            </a:r>
          </a:p>
          <a:p xmlns:a="http://schemas.openxmlformats.org/drawingml/2006/main">
            <a: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Специалист ОТ, юрист</a:t>
            </a:r>
          </a:p>
          <a:p xmlns:a="http://schemas.openxmlformats.org/drawingml/2006/main">
            <a:pPr>
              <a:defRPr sz="18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Менеджмент, работник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3AFCC-D9FE-4675-B5F1-7B3F305A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6745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Свои камеры, сотрудники и права в каждом предприятии</a:t>
            </a:r>
          </a:p>
        </p:txBody>
      </p:sp>
    </p:spTree>
    <p:extLst>
      <p:ext uri="{BB962C8B-B14F-4D97-AF65-F5344CB8AC3E}">
        <p14:creationId xmlns:p14="http://schemas.microsoft.com/office/powerpoint/2010/main" val="1958728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0A38A-42FF-46E4-9F31-80CAEBD5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Аналитика по камерам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4AAE4-9754-49A6-978E-76BDCA0B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BD451-66F3-4292-9983-31457297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Выбранный период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38A7D-B223-4A78-96CC-90881C1F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Камеры A и B · учебный стенд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307AC2E-CB91-44DE-ADEB-A3E13E601C51}"/>
              </a:ext>
            </a:extLst>
          </p:cNvPr>
          <p:cNvGraphicFramePr/>
          <p:nvPr/>
        </p:nvGraphicFramePr>
        <p:xfrm>
          <a:off xmlns:a="http://schemas.openxmlformats.org/drawingml/2006/main" x="590550" y="2867025"/>
          <a:ext xmlns:a="http://schemas.openxmlformats.org/drawingml/2006/main" cx="7572375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56ab697b21414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2EAA8-9595-4727-B13C-FE9C9E16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051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88,6%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4BA38-44B2-4F4B-87E9-3F3370B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событий — без каски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D627B-9C42-4449-B5E4-F22F2067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8157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Excel /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4D0E0-6045-4F47-9CC2-69B52BAE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Период, камера и тип события меняют срез</a:t>
            </a:r>
          </a:p>
        </p:txBody>
      </p:sp>
    </p:spTree>
    <p:extLst>
      <p:ext uri="{BB962C8B-B14F-4D97-AF65-F5344CB8AC3E}">
        <p14:creationId xmlns:p14="http://schemas.microsoft.com/office/powerpoint/2010/main" val="1404068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03AE8-31CD-4C81-AB47-08AA23CED31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39025" y="2881313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7C63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1CC8F-66AC-4C4F-BEF6-E9AFC09A1DB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09950" y="2881313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7C63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57B9C-F0EE-44B6-8D1C-FF5F1BF6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Разработка и внедрение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3D12F-657C-490D-B152-4ECF728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34846-EA31-468E-91FA-D9A1FD27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27813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C9BC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Данные</a:t>
            </a:r>
          </a:p>
          <a:p xmlns:a="http://schemas.openxmlformats.org/drawingml/2006/main">
            <a: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и дообучение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724F8-336C-4074-B961-813C2939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95525"/>
            <a:ext cx="27813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5"/>
          </a:solidFill>
          <a:ln xmlns:a="http://schemas.openxmlformats.org/drawingml/2006/main" w="9525">
            <a:solidFill>
              <a:srgbClr val="AAC9BC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Проверка</a:t>
            </a:r>
          </a:p>
          <a:p xmlns:a="http://schemas.openxmlformats.org/drawingml/2006/main">
            <a:pPr>
              <a:defRPr sz="2325" b="1">
                <a:solidFill>
                  <a:srgbClr val="073E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3E36"/>
                </a:solidFill>
                <a:latin typeface="Arial"/>
                <a:ea typeface="Arial"/>
                <a:cs typeface="Arial"/>
              </a:rPr>
              <a:t>на видео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B0D72-7924-4BA5-A80C-B3D8D113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95525"/>
            <a:ext cx="27813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36"/>
          </a:solidFill>
          <a:ln xmlns:a="http://schemas.openxmlformats.org/drawingml/2006/main" w="9525">
            <a:solidFill>
              <a:srgbClr val="AAC9BC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Приложение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сервере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CE1EB-7E93-47D1-8A87-7E611479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Промышленные ракурсы</a:t>
            </a:r>
          </a:p>
          <a:p xmlns:a="http://schemas.openxmlformats.org/drawingml/2006/main">
            <a: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Сложные отрицательные сцены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C4217-5957-4003-9FFD-1240562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620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Люди, СИЗ, события</a:t>
            </a:r>
          </a:p>
          <a:p xmlns:a="http://schemas.openxmlformats.org/drawingml/2006/main">
            <a: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Контроль повторов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1A28A-0775-44C4-A810-7F3FBEC7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862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Код и все веса</a:t>
            </a:r>
          </a:p>
          <a:p xmlns:a="http://schemas.openxmlformats.org/drawingml/2006/main">
            <a:pPr>
              <a:defRPr sz="1875" b="0">
                <a:solidFill>
                  <a:srgbClr val="52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736B"/>
                </a:solidFill>
                <a:latin typeface="Arial"/>
                <a:ea typeface="Arial"/>
                <a:cs typeface="Arial"/>
              </a:rPr>
              <a:t>Проверка состава архива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36A85-A1AC-4D7E-AB4D-F0BC7549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57C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7C63"/>
                </a:solidFill>
                <a:latin typeface="Arial"/>
                <a:ea typeface="Arial"/>
                <a:cs typeface="Arial"/>
              </a:rPr>
              <a:t>LinQ: базовая YOLO12m скомпилирована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4C9B3-C4D8-4FA9-B64B-A728478C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65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522"/>
                </a:solidFill>
                <a:latin typeface="Arial"/>
                <a:ea typeface="Arial"/>
                <a:cs typeface="Arial"/>
              </a:rPr>
              <a:t>Полный конвейер на TPU — следующий аппаратный этап</a:t>
            </a:r>
          </a:p>
        </p:txBody>
      </p:sp>
    </p:spTree>
    <p:extLst>
      <p:ext uri="{BB962C8B-B14F-4D97-AF65-F5344CB8AC3E}">
        <p14:creationId xmlns:p14="http://schemas.microsoft.com/office/powerpoint/2010/main" val="1089437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2026-10-25T03:22:45.8300000Z</dcterms:created>
  <dcterms:modified xsi:type="dcterms:W3CDTF">2026-10-25T03:22:45.8300000Z</dcterms:modified>
</coreProperties>
</file>